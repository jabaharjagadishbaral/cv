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806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789920" y="3291840"/>
            <a:ext cx="3108960" cy="310896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PRESENTATION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CAMPUS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Higher Education Through AI, Cloud, VR/AR and IoT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Jabahar Jagadish Baral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Roll No.: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2301320094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Vikramaditya Tarai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715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Institute of Engineering and Technology</a:t>
            </a:r>
            <a:endParaRPr lang="en-US" sz="1250" dirty="0"/>
          </a:p>
        </p:txBody>
      </p:sp>
      <p:sp>
        <p:nvSpPr>
          <p:cNvPr id="16" name="BPUT Badge"/>
          <p:cNvSpPr/>
          <p:nvPr/>
        </p:nvSpPr>
        <p:spPr>
          <a:xfrm>
            <a:off x="822960" y="200000"/>
            <a:ext cx="1000000" cy="1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Aryan Card"/>
          <p:cNvSpPr/>
          <p:nvPr/>
        </p:nvSpPr>
        <p:spPr>
          <a:xfrm>
            <a:off x="8669040" y="200000"/>
            <a:ext cx="2700000" cy="8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5" name="Aryan Institut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540" y="260000"/>
            <a:ext cx="2385000" cy="73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F174B1-C5CF-7170-8AAA-5CC3A95AB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19" y="245769"/>
            <a:ext cx="903061" cy="9030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is shifting from purely physical classrooms to blended and fully digital learning environments.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Campus recreates the academic, social and administrative experience of a physical college on a unified digital platform.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brings together classrooms, libraries, laboratories, examinations and student services under one connected system.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by advances in cloud computing, Artificial Intelligence, IoT and immersive technologies like VR/AR.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rapidly after 2020, and now a long-term strategy for flexible, scalable and accessible education.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66560" y="20574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52360" y="19659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766560" y="2651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adoption of digital-campus platforms by universities worldwide since 2020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560" y="36576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52360" y="35661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x 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66560" y="4251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learning resources, independent of location or time zone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66560" y="5257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52360" y="51663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Platform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5806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academics, administration and campus life digitally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Study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85816" cy="132588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929384"/>
            <a:ext cx="4379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Concept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4379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what a Virtual Campus is and how it differs from traditional and simple e-learning setups.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54496" y="1783080"/>
            <a:ext cx="5385816" cy="132588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55664" y="19842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55664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77456" y="1929384"/>
            <a:ext cx="4379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Architecture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77456" y="2286000"/>
            <a:ext cx="4379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layered architecture and technology stack that powers such platforms.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5385816" cy="132588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" y="35844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529584"/>
            <a:ext cx="4379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Technologies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71600" y="3886200"/>
            <a:ext cx="4379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role of AI, Cloud, VR/AR, IoT and LMS in enabling virtual campuses.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54496" y="3383280"/>
            <a:ext cx="5385816" cy="132588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55664" y="35844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55664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77456" y="3529584"/>
            <a:ext cx="4379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Benefits &amp; Risks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077456" y="3886200"/>
            <a:ext cx="4379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advantages, implementation challenges and security concerns.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5385816" cy="132588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9808" y="5184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" y="5184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5129784"/>
            <a:ext cx="4379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Real Deployments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71600" y="5486400"/>
            <a:ext cx="4379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real-world examples and a representative case study.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254496" y="4983480"/>
            <a:ext cx="5385816" cy="1325880"/>
          </a:xfrm>
          <a:prstGeom prst="roundRect">
            <a:avLst>
              <a:gd name="adj" fmla="val 689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55664" y="5184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55664" y="5184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77456" y="5129784"/>
            <a:ext cx="4379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Future Direction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077456" y="5486400"/>
            <a:ext cx="4379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future scope of virtual campuses in global education.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Virtual Campus?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7607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Campus is an integrated digital ecosystem that replicates the teaching, learning, administrative and social functions of a physical college through internet-based platforms and emerging technologies.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5021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Campus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35021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classrooms and fixed timetables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4325112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439826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E-Learning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439826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videos or static content only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5221224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529437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Campus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529437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interactive, AI-assisted, immersive &amp; data-driven experience</a:t>
            </a:r>
            <a:endParaRPr lang="en-US" sz="1080" dirty="0"/>
          </a:p>
        </p:txBody>
      </p:sp>
      <p:pic>
        <p:nvPicPr>
          <p:cNvPr id="16" name="Image 0" descr="/home/claude/work/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507492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Classrooms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057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lectures, screen sharing and interactive whiteboards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337304" y="178308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65904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65904" y="265176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E-Library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65904" y="3063240"/>
            <a:ext cx="3057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e-books, journals and research repositories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25968" y="178308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54568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54568" y="265176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Labs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54568" y="3063240"/>
            <a:ext cx="3057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Simulation-based practicals accessible without physical hardware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7240" y="42062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Admin Portal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257800"/>
            <a:ext cx="3057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fees, attendance and academic records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337304" y="397764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65904" y="42062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65904" y="484632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Tools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65904" y="5257800"/>
            <a:ext cx="3057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forums, video conferencing and notifications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125968" y="397764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54568" y="42062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54568" y="4846320"/>
            <a:ext cx="3057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Module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54568" y="5257800"/>
            <a:ext cx="3057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tests, proctoring and automated evaluation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5" name="Image 0" descr="/home/claude/work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107899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35454" cy="4114800"/>
          </a:xfrm>
          <a:prstGeom prst="roundRect">
            <a:avLst>
              <a:gd name="adj" fmla="val 4492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0354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1395374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66969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166969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learning paths, chatbots, auto-grading and plagiarism detection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2812694" y="1828800"/>
            <a:ext cx="2035454" cy="4114800"/>
          </a:xfrm>
          <a:prstGeom prst="roundRect">
            <a:avLst>
              <a:gd name="adj" fmla="val 449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12694" y="2103120"/>
            <a:ext cx="20354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132734" y="2834640"/>
            <a:ext cx="1395374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2971800"/>
            <a:ext cx="166969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95574" y="3794760"/>
            <a:ext cx="166969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storage, on-demand compute and 24x7 platform availability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076749" y="1828800"/>
            <a:ext cx="2035454" cy="4114800"/>
          </a:xfrm>
          <a:prstGeom prst="roundRect">
            <a:avLst>
              <a:gd name="adj" fmla="val 4492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6749" y="2103120"/>
            <a:ext cx="20354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VR/AR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396789" y="2834640"/>
            <a:ext cx="1395374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59629" y="2971800"/>
            <a:ext cx="166969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&amp; Augmented Reality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59629" y="3794760"/>
            <a:ext cx="166969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labs, campus tours and simulation-based practical training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340803" y="1828800"/>
            <a:ext cx="2035454" cy="4114800"/>
          </a:xfrm>
          <a:prstGeom prst="roundRect">
            <a:avLst>
              <a:gd name="adj" fmla="val 4492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40803" y="2103120"/>
            <a:ext cx="20354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660843" y="2834640"/>
            <a:ext cx="1395374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23683" y="2971800"/>
            <a:ext cx="166969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23683" y="3794760"/>
            <a:ext cx="166969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classrooms, attendance sensors and connected campus infrastructure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9604858" y="1828800"/>
            <a:ext cx="2035454" cy="4114800"/>
          </a:xfrm>
          <a:prstGeom prst="roundRect">
            <a:avLst>
              <a:gd name="adj" fmla="val 4492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4858" y="2103120"/>
            <a:ext cx="20354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LMS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924898" y="2834640"/>
            <a:ext cx="1395374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87738" y="2971800"/>
            <a:ext cx="166969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87738" y="3794760"/>
            <a:ext cx="166969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for content delivery, assignments and grade tracking</a:t>
            </a:r>
            <a:endParaRPr lang="en-US" sz="9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Process</a:t>
            </a:r>
            <a:endParaRPr lang="en-US" sz="2800" dirty="0"/>
          </a:p>
        </p:txBody>
      </p:sp>
      <p:pic>
        <p:nvPicPr>
          <p:cNvPr id="5" name="Image 0" descr="/home/claude/work/working_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11680"/>
            <a:ext cx="109728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630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93392"/>
            <a:ext cx="431139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Anytime, anywhere access to lectures and resources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7356" y="182880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630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05956" y="214884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05956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46036" y="1993392"/>
            <a:ext cx="431139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cost savings on travel, hostel and infrastructure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630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547872"/>
            <a:ext cx="431139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Personalised, AI-driven learning paths for each student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7356" y="338328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630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05956" y="37033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05956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46036" y="3547872"/>
            <a:ext cx="431139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thousands of learners without added physical infrastructure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630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102352"/>
            <a:ext cx="431139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Eco-friendly — reduced commuting and paper usage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77356" y="493776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2630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05956" y="52578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05956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46036" y="5102352"/>
            <a:ext cx="431139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analytics for students and faculty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9057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access to devices and stable internet, especially in rural areas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6277356" y="1783080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05956" y="1920240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Setup Cost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05956" y="2286000"/>
            <a:ext cx="49057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investment in servers, VR/AR equipment and skilled staff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410712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Dependence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776472"/>
            <a:ext cx="49057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outages or connectivity issues disrupt learning directly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277356" y="3273552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05956" y="3410712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Social Interaction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05956" y="3776472"/>
            <a:ext cx="49057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face-to-face peer bonding and extracurricular engagement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48640" y="4764024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901184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Risks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266944"/>
            <a:ext cx="49057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academic and personal data vulnerable to breaches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277356" y="4764024"/>
            <a:ext cx="5362956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05956" y="4901184"/>
            <a:ext cx="49057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&amp; Student Training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05956" y="5266944"/>
            <a:ext cx="49057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to new tools requires continuous digital-skill training</a:t>
            </a:r>
            <a:endParaRPr lang="en-US" sz="10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Privacy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and role-based access control for portals and admin systems.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of data in transit and at rest, including exam and payment data.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vulnerability audits, penetration testing and patch management.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with data-protection regulations (e.g. GDPR / IT Act) for student records.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proctoring with clear consent policies to balance integrity and privacy.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backups and disaster-recovery plans to prevent data loss.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73736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6656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Security Pillars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0" y="2560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6656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248716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— data seen only by authorised users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66560" y="36118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353872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— data stays accurate &amp; unaltered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0" y="4663440"/>
            <a:ext cx="411480" cy="4114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459028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— systems accessible when needed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62956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42656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 / edX / Swayam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49057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MOOC platforms delivering university-grade courses with certification globally.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277356" y="1828800"/>
            <a:ext cx="5362956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05956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05956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46036" y="2011680"/>
            <a:ext cx="42656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/ Microsoft Teams for Education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05956" y="2697480"/>
            <a:ext cx="49057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for virtual classrooms, assignments and collaboration in schools &amp; colleges.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362956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160520"/>
            <a:ext cx="42656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Campus Pilots (e.g. Stanford, Meta Horizon Workrooms)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49057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VR spaces used for lectures, labs and virtual convocations.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277356" y="3977640"/>
            <a:ext cx="5362956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05956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05956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46036" y="4160520"/>
            <a:ext cx="42656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Government's SWAYAM &amp; DIKSHA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05956" y="4846320"/>
            <a:ext cx="49057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digital learning platforms offering free courses to millions of students.</a:t>
            </a:r>
            <a:endParaRPr lang="en-US" sz="10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67178" cy="3931920"/>
          </a:xfrm>
          <a:prstGeom prst="roundRect">
            <a:avLst>
              <a:gd name="adj" fmla="val 427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2014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2014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Metaverse Campuses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20141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immersive 3D virtual universities with persistent avatars and spaces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0138" y="1920240"/>
            <a:ext cx="2567178" cy="3931920"/>
          </a:xfrm>
          <a:prstGeom prst="roundRect">
            <a:avLst>
              <a:gd name="adj" fmla="val 4274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73018" y="2148840"/>
            <a:ext cx="22014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73018" y="2880360"/>
            <a:ext cx="22014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73018" y="3794760"/>
            <a:ext cx="220141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mentors offering 24x7 personalised academic support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1636" y="1920240"/>
            <a:ext cx="2567178" cy="3931920"/>
          </a:xfrm>
          <a:prstGeom prst="roundRect">
            <a:avLst>
              <a:gd name="adj" fmla="val 4274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14516" y="2148840"/>
            <a:ext cx="22014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14516" y="2880360"/>
            <a:ext cx="22014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Credentials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14516" y="3794760"/>
            <a:ext cx="220141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Tamper-proof, instantly verifiable digital degrees and certificates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73134" y="1920240"/>
            <a:ext cx="2567178" cy="3931920"/>
          </a:xfrm>
          <a:prstGeom prst="roundRect">
            <a:avLst>
              <a:gd name="adj" fmla="val 427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56014" y="2148840"/>
            <a:ext cx="22014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56014" y="2880360"/>
            <a:ext cx="22014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5G-Enabled AR Labs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56014" y="3794760"/>
            <a:ext cx="220141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Ultra-low-latency AR practicals accessible on lightweight devices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SWAYAM (India)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SWAYAM (Study Webs of Active Learning for Young Aspiring Minds) is India's national platform hosting free courses from school to postgraduate level, integrating video lectures, e-content, discussion forums and online assessment.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127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1,900+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Offered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30175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3127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 crore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Learners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0175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3127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IITs, IIMs, UGC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Institutes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15400" y="30175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15400" y="3127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+ Certification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1540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scalable, low-cost delivery of quality education across India.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Credit-recognition by UGC shows viability of virtual-campus models academically.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digital-divide challenge in rural participation rates.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Campus is a comprehensive, technology-driven reimagining of higher education — not just a replacement for classrooms.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AI, Cloud, VR/AR and IoT enables flexible, personalised and scalable learning experiences.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like the digital divide, cost and security must be addressed for equitable adoption.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continued investment, virtual campuses are set to become a mainstream, permanent part of global education.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0152" y="274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Anderson, T. (2022). The Theory and Practice of Online Learning. AU Press.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UGC (2023). Guidelines for Online and Digital Education in Higher Education Institutions.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SWAYAM Official Portal — https://swayam.gov.in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IEEE Xplore — Papers on Cloud-based Learning Management Systems.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Gartner (2024). Emerging Technology Trends in Education.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2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Ministry of Education, Government of India — National Education Policy 2020.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63871" y="3291840"/>
            <a:ext cx="21945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48" y="343281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Jabahar Jagadish Baral  •  2301320094  •  Computer Science &amp; Engineering, Aryan Institute of Engineering and Technology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1212</Words>
  <Application>Microsoft Office PowerPoint</Application>
  <PresentationFormat>Widescreen</PresentationFormat>
  <Paragraphs>219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Kanha Baral</cp:lastModifiedBy>
  <cp:revision>2</cp:revision>
  <dcterms:created xsi:type="dcterms:W3CDTF">2026-08-06T07:35:39Z</dcterms:created>
  <dcterms:modified xsi:type="dcterms:W3CDTF">2026-08-14T15:56:26Z</dcterms:modified>
</cp:coreProperties>
</file>